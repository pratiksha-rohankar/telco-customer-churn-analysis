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0"/>
  </p:notesMasterIdLst>
  <p:sldIdLst>
    <p:sldId id="2767" r:id="rId5"/>
    <p:sldId id="2772" r:id="rId6"/>
    <p:sldId id="2775" r:id="rId7"/>
    <p:sldId id="2776" r:id="rId8"/>
    <p:sldId id="2777" r:id="rId9"/>
    <p:sldId id="257" r:id="rId10"/>
    <p:sldId id="2774" r:id="rId11"/>
    <p:sldId id="260" r:id="rId12"/>
    <p:sldId id="264" r:id="rId13"/>
    <p:sldId id="268" r:id="rId14"/>
    <p:sldId id="2768" r:id="rId15"/>
    <p:sldId id="2769" r:id="rId16"/>
    <p:sldId id="2770" r:id="rId17"/>
    <p:sldId id="2771" r:id="rId18"/>
    <p:sldId id="27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8341" y="1471400"/>
            <a:ext cx="6960458" cy="1082439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Telco Customer Churn Analysis 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8BEA2D0-A589-1203-534D-664C915D21E1}"/>
              </a:ext>
            </a:extLst>
          </p:cNvPr>
          <p:cNvSpPr txBox="1">
            <a:spLocks/>
          </p:cNvSpPr>
          <p:nvPr/>
        </p:nvSpPr>
        <p:spPr>
          <a:xfrm>
            <a:off x="576945" y="4281976"/>
            <a:ext cx="9057385" cy="1082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0F5F8-23B8-3080-52FD-94D6A3DFD809}"/>
              </a:ext>
            </a:extLst>
          </p:cNvPr>
          <p:cNvSpPr txBox="1"/>
          <p:nvPr/>
        </p:nvSpPr>
        <p:spPr>
          <a:xfrm>
            <a:off x="576942" y="3766648"/>
            <a:ext cx="5227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SQL</a:t>
            </a:r>
            <a:r>
              <a:rPr lang="en-US" sz="2000" dirty="0">
                <a:solidFill>
                  <a:schemeClr val="bg1"/>
                </a:solidFill>
              </a:rPr>
              <a:t> +</a:t>
            </a:r>
            <a:r>
              <a:rPr lang="en-US" sz="2000" b="1" dirty="0">
                <a:solidFill>
                  <a:srgbClr val="92D050"/>
                </a:solidFill>
              </a:rPr>
              <a:t> Excel </a:t>
            </a:r>
            <a:r>
              <a:rPr lang="en-US" sz="2000" dirty="0">
                <a:solidFill>
                  <a:schemeClr val="bg1"/>
                </a:solidFill>
              </a:rPr>
              <a:t>Based Analysis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AB254F-805A-AD63-2E30-F692D087CFF9}"/>
              </a:ext>
            </a:extLst>
          </p:cNvPr>
          <p:cNvSpPr txBox="1"/>
          <p:nvPr/>
        </p:nvSpPr>
        <p:spPr>
          <a:xfrm>
            <a:off x="576941" y="4823195"/>
            <a:ext cx="33854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Pratiksha L </a:t>
            </a:r>
            <a:r>
              <a:rPr lang="en-US" sz="2400" dirty="0" err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Rohankar</a:t>
            </a:r>
            <a:endParaRPr lang="en-IN" sz="24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638E2-6D9C-95AC-6431-F1CAFCBF7909}"/>
              </a:ext>
            </a:extLst>
          </p:cNvPr>
          <p:cNvSpPr txBox="1"/>
          <p:nvPr/>
        </p:nvSpPr>
        <p:spPr>
          <a:xfrm>
            <a:off x="2021077" y="345406"/>
            <a:ext cx="8640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75000"/>
                  </a:schemeClr>
                </a:solidFill>
              </a:rPr>
              <a:t>DATA ANALYST </a:t>
            </a:r>
            <a:r>
              <a:rPr lang="en-US" sz="3200" b="1" dirty="0"/>
              <a:t>PORTFOLIO PROJECT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C61DB2-83C3-2406-FCEB-8E6DEB3BD073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Data Import / Export through files — CMDBuild">
            <a:extLst>
              <a:ext uri="{FF2B5EF4-FFF2-40B4-BE49-F238E27FC236}">
                <a16:creationId xmlns:a16="http://schemas.microsoft.com/office/drawing/2014/main" id="{726D8A9A-0C38-F875-A0A0-C657FED82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09" y="2129862"/>
            <a:ext cx="3025938" cy="285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17DDB9-6719-F4F6-10DE-54D914A4F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555" y="843593"/>
            <a:ext cx="8390884" cy="53008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382E35-8ABB-1E5E-F1DD-0B32A1ABD662}"/>
              </a:ext>
            </a:extLst>
          </p:cNvPr>
          <p:cNvSpPr txBox="1"/>
          <p:nvPr/>
        </p:nvSpPr>
        <p:spPr>
          <a:xfrm>
            <a:off x="357807" y="2129862"/>
            <a:ext cx="2617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IMPORT DATA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7" name="Picture 6" descr="Data Import / Export through files — CMDBuild">
            <a:extLst>
              <a:ext uri="{FF2B5EF4-FFF2-40B4-BE49-F238E27FC236}">
                <a16:creationId xmlns:a16="http://schemas.microsoft.com/office/drawing/2014/main" id="{2804FE29-24E0-9DCA-D149-40A46E9DD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92" y="-92631"/>
            <a:ext cx="993030" cy="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41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BAB34-A293-CB65-987D-2F958814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4093E-BD5A-D712-ED9B-941B1B69E379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E085B-CCA5-CCF2-E645-274AC5DD86F8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Data Import / Export through files — CMDBuild">
            <a:extLst>
              <a:ext uri="{FF2B5EF4-FFF2-40B4-BE49-F238E27FC236}">
                <a16:creationId xmlns:a16="http://schemas.microsoft.com/office/drawing/2014/main" id="{8E1140AE-2B95-5075-9F56-8E1511A2E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92" y="-92631"/>
            <a:ext cx="993030" cy="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1B9E89-3756-B75C-3FAB-BF3F5F3E5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25" y="868699"/>
            <a:ext cx="11504149" cy="567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7AC0C-DEAD-DD4D-71E5-8ECDD166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83D7A-B7F1-37EE-4364-86DA3E3680A2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8579B9-F41F-2969-7D0A-6DA971AB813C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Data Import / Export through files — CMDBuild">
            <a:extLst>
              <a:ext uri="{FF2B5EF4-FFF2-40B4-BE49-F238E27FC236}">
                <a16:creationId xmlns:a16="http://schemas.microsoft.com/office/drawing/2014/main" id="{A2DFF66D-77BC-4D4A-590D-EC0ABC07D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92" y="-92631"/>
            <a:ext cx="993030" cy="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3D4DBD-06A0-F47D-AF60-5027F51A20E2}"/>
              </a:ext>
            </a:extLst>
          </p:cNvPr>
          <p:cNvSpPr txBox="1"/>
          <p:nvPr/>
        </p:nvSpPr>
        <p:spPr>
          <a:xfrm>
            <a:off x="404191" y="930541"/>
            <a:ext cx="286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WRITING QUERIE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0832F8-246F-F847-8654-A97599A6B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90" y="1392205"/>
            <a:ext cx="11714923" cy="535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F65A-33D5-AA35-86A7-C12EC5A7F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BB75E6-B8A7-0CA4-F75E-CFFCE4DE7787}"/>
              </a:ext>
            </a:extLst>
          </p:cNvPr>
          <p:cNvSpPr txBox="1"/>
          <p:nvPr/>
        </p:nvSpPr>
        <p:spPr>
          <a:xfrm>
            <a:off x="238538" y="1294976"/>
            <a:ext cx="7305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C0C0C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CONNECTING Excel To </a:t>
            </a:r>
            <a:r>
              <a:rPr lang="en-IN" sz="2400" b="1" dirty="0">
                <a:highlight>
                  <a:srgbClr val="C0C0C0"/>
                </a:highlight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DB Browser for SQLite</a:t>
            </a: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endParaRPr lang="en-IN" sz="2400" b="1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E57D4C7-6093-D351-1B24-6A5D401CD1F0}"/>
              </a:ext>
            </a:extLst>
          </p:cNvPr>
          <p:cNvSpPr/>
          <p:nvPr/>
        </p:nvSpPr>
        <p:spPr>
          <a:xfrm>
            <a:off x="4428448" y="3429000"/>
            <a:ext cx="2939760" cy="830997"/>
          </a:xfrm>
          <a:prstGeom prst="rightArrow">
            <a:avLst/>
          </a:prstGeom>
          <a:gradFill>
            <a:gsLst>
              <a:gs pos="0">
                <a:srgbClr val="00B050"/>
              </a:gs>
              <a:gs pos="100000">
                <a:schemeClr val="tx1">
                  <a:lumMod val="5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dd, create, database, hd, new, plus, server icon - Download on Iconfinder">
            <a:extLst>
              <a:ext uri="{FF2B5EF4-FFF2-40B4-BE49-F238E27FC236}">
                <a16:creationId xmlns:a16="http://schemas.microsoft.com/office/drawing/2014/main" id="{C35455CE-BF68-797C-9684-2F441CCBC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748" y="2618431"/>
            <a:ext cx="2599207" cy="264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6C5346-2B35-764A-8125-B87913F986A1}"/>
              </a:ext>
            </a:extLst>
          </p:cNvPr>
          <p:cNvSpPr txBox="1"/>
          <p:nvPr/>
        </p:nvSpPr>
        <p:spPr>
          <a:xfrm>
            <a:off x="1164773" y="4969252"/>
            <a:ext cx="2881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C0C0C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PROCESSING</a:t>
            </a:r>
            <a:endParaRPr lang="en-IN" sz="2400" b="1" dirty="0">
              <a:highlight>
                <a:srgbClr val="C0C0C0"/>
              </a:highlight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endParaRPr lang="en-IN" sz="2400" b="1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230A8-7ADD-9814-265F-4F8C0FC29EFA}"/>
              </a:ext>
            </a:extLst>
          </p:cNvPr>
          <p:cNvSpPr txBox="1"/>
          <p:nvPr/>
        </p:nvSpPr>
        <p:spPr>
          <a:xfrm>
            <a:off x="7733774" y="4890031"/>
            <a:ext cx="3293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C0C0C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VISUALIZATION</a:t>
            </a:r>
            <a:endParaRPr lang="en-IN" sz="2400" b="1" dirty="0">
              <a:solidFill>
                <a:schemeClr val="accent3">
                  <a:lumMod val="50000"/>
                </a:schemeClr>
              </a:solidFill>
              <a:highlight>
                <a:srgbClr val="C0C0C0"/>
              </a:highlight>
            </a:endParaRPr>
          </a:p>
        </p:txBody>
      </p:sp>
      <p:pic>
        <p:nvPicPr>
          <p:cNvPr id="14" name="Picture 6" descr="Microsoft Excel Alt macOS - free Icon PNG, SVG">
            <a:extLst>
              <a:ext uri="{FF2B5EF4-FFF2-40B4-BE49-F238E27FC236}">
                <a16:creationId xmlns:a16="http://schemas.microsoft.com/office/drawing/2014/main" id="{7CEB4B77-0FA4-F33C-3382-EB2E68CA1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70" y="2451631"/>
            <a:ext cx="2295259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432884-48B2-C929-D023-F421A7076A94}"/>
              </a:ext>
            </a:extLst>
          </p:cNvPr>
          <p:cNvSpPr txBox="1"/>
          <p:nvPr/>
        </p:nvSpPr>
        <p:spPr>
          <a:xfrm>
            <a:off x="148032" y="108486"/>
            <a:ext cx="1622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XCEL</a:t>
            </a:r>
          </a:p>
        </p:txBody>
      </p:sp>
      <p:pic>
        <p:nvPicPr>
          <p:cNvPr id="16" name="Picture 6" descr="Microsoft Excel Alt macOS - free Icon PNG, SVG">
            <a:extLst>
              <a:ext uri="{FF2B5EF4-FFF2-40B4-BE49-F238E27FC236}">
                <a16:creationId xmlns:a16="http://schemas.microsoft.com/office/drawing/2014/main" id="{81505754-A081-F990-BB13-8D9B95785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75893"/>
            <a:ext cx="551329" cy="55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850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778EB-02BC-289B-2ED3-7FD5D04DDAB2}"/>
              </a:ext>
            </a:extLst>
          </p:cNvPr>
          <p:cNvSpPr txBox="1"/>
          <p:nvPr/>
        </p:nvSpPr>
        <p:spPr>
          <a:xfrm>
            <a:off x="148032" y="108486"/>
            <a:ext cx="1622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XCEL</a:t>
            </a:r>
          </a:p>
        </p:txBody>
      </p:sp>
      <p:pic>
        <p:nvPicPr>
          <p:cNvPr id="5" name="Picture 6" descr="Microsoft Excel Alt macOS - free Icon PNG, SVG">
            <a:extLst>
              <a:ext uri="{FF2B5EF4-FFF2-40B4-BE49-F238E27FC236}">
                <a16:creationId xmlns:a16="http://schemas.microsoft.com/office/drawing/2014/main" id="{7EB61D7F-F371-87B6-DE38-5489B399D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75893"/>
            <a:ext cx="551329" cy="55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80ABB2-0F4E-9C56-6880-08D002442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83" y="664299"/>
            <a:ext cx="11558351" cy="582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42FC-C364-B460-5B3B-33A200BF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FF9698-4933-DB26-A124-56A7665C05AA}"/>
              </a:ext>
            </a:extLst>
          </p:cNvPr>
          <p:cNvSpPr txBox="1"/>
          <p:nvPr/>
        </p:nvSpPr>
        <p:spPr>
          <a:xfrm>
            <a:off x="0" y="106017"/>
            <a:ext cx="121056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Executive Summary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Business Takeaways:</a:t>
            </a:r>
          </a:p>
          <a:p>
            <a:pPr algn="just"/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churn rate stands at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~27%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 retention challenge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is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random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it is strongly influenced by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pricing, contract type, and payment behavior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High-revenue customers are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likely to churn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increasing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risk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Several churn drivers are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enabling targeted retention strategies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310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33B6845-4D03-BB3A-7E9A-620B5E5200B1}"/>
              </a:ext>
            </a:extLst>
          </p:cNvPr>
          <p:cNvSpPr txBox="1"/>
          <p:nvPr/>
        </p:nvSpPr>
        <p:spPr>
          <a:xfrm>
            <a:off x="145774" y="0"/>
            <a:ext cx="121920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Pricing Impact on Churn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Avg Monthly Charges – Churned vs Active Customers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Churned customers have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average monthly charges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than active customers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sensitivity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especially among premium users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High-paying customers may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perceive sufficient value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discounts for long-term contracts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loyalty rewards for long-tenure customers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auto-payment methods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churn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discounts for high monthly charge customers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419460E-F903-C974-00FB-B36F26A6F901}"/>
              </a:ext>
            </a:extLst>
          </p:cNvPr>
          <p:cNvSpPr txBox="1"/>
          <p:nvPr/>
        </p:nvSpPr>
        <p:spPr>
          <a:xfrm>
            <a:off x="0" y="0"/>
            <a:ext cx="121920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Contract Type Drives Retention</a:t>
            </a:r>
          </a:p>
          <a:p>
            <a:pPr algn="just"/>
            <a:endParaRPr lang="en-US" sz="28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by Contract Type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Month-to-month contracts show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churn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contracts (1–2 years) show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significantly lower churn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Commitment length directly improves retention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Incentivize migration from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month-to-month → long-term contracts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discounts or bundles during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renewal touchpoints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C6F9B-DA2C-99F1-D3FF-573EEC83F896}"/>
              </a:ext>
            </a:extLst>
          </p:cNvPr>
          <p:cNvSpPr txBox="1"/>
          <p:nvPr/>
        </p:nvSpPr>
        <p:spPr>
          <a:xfrm>
            <a:off x="0" y="0"/>
            <a:ext cx="121920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Tenure-Based Churn Behavior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by Tenure Group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is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among early-tenure customers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longer tenure show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loyalty and lower churn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experience is critical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onboarding &amp; first 90-day experience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 retention campaigns for customers 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0–12 month tenure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CAA383-0271-47E2-905D-25877E4F42F9}"/>
              </a:ext>
            </a:extLst>
          </p:cNvPr>
          <p:cNvSpPr txBox="1"/>
          <p:nvPr/>
        </p:nvSpPr>
        <p:spPr>
          <a:xfrm>
            <a:off x="0" y="0"/>
            <a:ext cx="12192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Payment Method Risk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Distribution by Payment Method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using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 Check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exhibit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churn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Auto-payment methods (credit card, bank transfer) show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churn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auto-pay adoption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incentives for switching away from high-risk payment methods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3209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6FA563-EDC2-EB48-B758-8A82AC5750E1}"/>
              </a:ext>
            </a:extLst>
          </p:cNvPr>
          <p:cNvSpPr txBox="1"/>
          <p:nvPr/>
        </p:nvSpPr>
        <p:spPr>
          <a:xfrm>
            <a:off x="0" y="0"/>
            <a:ext cx="12192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Revenue Loss Concentration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Revenue Loss Due to Churn by Payment Method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number of payment methods account for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disproportionately high revenue loss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churn is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evenly distributed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retention efforts where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impact is highest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just churn count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Revenue-weighted churn tracking should guide decisions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928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8304C3-5746-44F1-FF5D-4E0F4720EF27}"/>
              </a:ext>
            </a:extLst>
          </p:cNvPr>
          <p:cNvSpPr txBox="1"/>
          <p:nvPr/>
        </p:nvSpPr>
        <p:spPr>
          <a:xfrm>
            <a:off x="0" y="0"/>
            <a:ext cx="12192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Monthly Charge Band Risk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Share by Monthly Charge Band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monthly charge bands contribute more to churn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dissatisfaction among premium segments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customers need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 support &amp; personalized offers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Flat retention strategies may fail for high-value customers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315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37AE43-D067-BAE9-7AF7-28A6174E525C}"/>
              </a:ext>
            </a:extLst>
          </p:cNvPr>
          <p:cNvSpPr txBox="1"/>
          <p:nvPr/>
        </p:nvSpPr>
        <p:spPr>
          <a:xfrm>
            <a:off x="0" y="0"/>
            <a:ext cx="12192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Internet Service Type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by Internet Service Type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Fiber optic customers show higher churn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compared to DSL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service cost may raise expectations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service reliability &amp; support for fiber customers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Reassess fiber pricing vs perceived value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046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F0D8853-7AA4-F4FC-1F89-31737552A236}"/>
              </a:ext>
            </a:extLst>
          </p:cNvPr>
          <p:cNvSpPr txBox="1"/>
          <p:nvPr/>
        </p:nvSpPr>
        <p:spPr>
          <a:xfrm>
            <a:off x="5486399" y="2967335"/>
            <a:ext cx="2487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THANK YOU</a:t>
            </a:r>
            <a:endParaRPr lang="en-IN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564008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{1DF123DE-D0B7-4838-819B-A88AB26724F7}05f950ec-c865-457c-93ae-9eb2ef1c603f-TFa19fa653-f273-4169-96ef-448bb1cd1027_win32</Template>
  <TotalTime>98</TotalTime>
  <Words>471</Words>
  <Application>Microsoft Office PowerPoint</Application>
  <PresentationFormat>Widescreen</PresentationFormat>
  <Paragraphs>121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Neue Haas Grotesk Text Pro</vt:lpstr>
      <vt:lpstr>Segoe UI</vt:lpstr>
      <vt:lpstr>Segoe UI Semibold</vt:lpstr>
      <vt:lpstr>OasisVTI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Pratiksha R</dc:creator>
  <cp:lastModifiedBy>Pratiksha R</cp:lastModifiedBy>
  <cp:revision>12</cp:revision>
  <dcterms:created xsi:type="dcterms:W3CDTF">2026-02-08T16:55:04Z</dcterms:created>
  <dcterms:modified xsi:type="dcterms:W3CDTF">2026-03-09T17:47:33Z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